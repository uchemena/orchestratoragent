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80" y="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7772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 dirty="0">
                <a:solidFill>
                  <a:srgbClr val="192A43"/>
                </a:solidFill>
                <a:latin typeface="Aptos"/>
              </a:rPr>
              <a:t>Hi, I’m Rachel Irabor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002536"/>
            <a:ext cx="2578608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2057400"/>
            <a:ext cx="73152" cy="214884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9264" y="2258568"/>
            <a:ext cx="21214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92A43"/>
                </a:solidFill>
                <a:latin typeface="Aptos"/>
              </a:rPr>
              <a:t>Microsoft MVP</a:t>
            </a:r>
          </a:p>
        </p:txBody>
      </p:sp>
      <p:sp>
        <p:nvSpPr>
          <p:cNvPr id="7" name="Oval 6"/>
          <p:cNvSpPr/>
          <p:nvPr/>
        </p:nvSpPr>
        <p:spPr>
          <a:xfrm>
            <a:off x="969264" y="2807208"/>
            <a:ext cx="475488" cy="475488"/>
          </a:xfrm>
          <a:prstGeom prst="ellipse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2770632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2057400"/>
            <a:ext cx="2578608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47872" y="2057400"/>
            <a:ext cx="73152" cy="2148840"/>
          </a:xfrm>
          <a:prstGeom prst="rect">
            <a:avLst/>
          </a:prstGeom>
          <a:solidFill>
            <a:srgbClr val="DA6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03904" y="2258568"/>
            <a:ext cx="21214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dirty="0">
                <a:solidFill>
                  <a:srgbClr val="192A43"/>
                </a:solidFill>
                <a:latin typeface="Aptos"/>
              </a:rPr>
              <a:t>AI Agent</a:t>
            </a:r>
          </a:p>
        </p:txBody>
      </p:sp>
      <p:sp>
        <p:nvSpPr>
          <p:cNvPr id="13" name="Oval 12"/>
          <p:cNvSpPr/>
          <p:nvPr/>
        </p:nvSpPr>
        <p:spPr>
          <a:xfrm>
            <a:off x="3803904" y="2807208"/>
            <a:ext cx="475488" cy="475488"/>
          </a:xfrm>
          <a:prstGeom prst="ellipse">
            <a:avLst/>
          </a:prstGeom>
          <a:solidFill>
            <a:srgbClr val="DA6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3904" y="2770632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2057400"/>
            <a:ext cx="2578608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82512" y="2057400"/>
            <a:ext cx="73152" cy="2148840"/>
          </a:xfrm>
          <a:prstGeom prst="rect">
            <a:avLst/>
          </a:prstGeom>
          <a:solidFill>
            <a:srgbClr val="248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38544" y="2258568"/>
            <a:ext cx="21214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dirty="0">
                <a:solidFill>
                  <a:srgbClr val="192A43"/>
                </a:solidFill>
                <a:latin typeface="Aptos"/>
              </a:rPr>
              <a:t>Power Platform</a:t>
            </a:r>
          </a:p>
        </p:txBody>
      </p:sp>
      <p:sp>
        <p:nvSpPr>
          <p:cNvPr id="19" name="Oval 18"/>
          <p:cNvSpPr/>
          <p:nvPr/>
        </p:nvSpPr>
        <p:spPr>
          <a:xfrm>
            <a:off x="6638544" y="2807208"/>
            <a:ext cx="475488" cy="475488"/>
          </a:xfrm>
          <a:prstGeom prst="ellipse">
            <a:avLst/>
          </a:prstGeom>
          <a:solidFill>
            <a:srgbClr val="248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8544" y="2770632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1" y="2057400"/>
            <a:ext cx="2578608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17151" y="2057400"/>
            <a:ext cx="73152" cy="2148840"/>
          </a:xfrm>
          <a:prstGeom prst="rect">
            <a:avLst/>
          </a:prstGeom>
          <a:solidFill>
            <a:srgbClr val="69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78110" y="2247138"/>
            <a:ext cx="21214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dirty="0">
                <a:solidFill>
                  <a:srgbClr val="192A43"/>
                </a:solidFill>
                <a:latin typeface="Aptos"/>
              </a:rPr>
              <a:t>Dynamics 365 CRM</a:t>
            </a:r>
          </a:p>
        </p:txBody>
      </p:sp>
      <p:sp>
        <p:nvSpPr>
          <p:cNvPr id="25" name="Oval 24"/>
          <p:cNvSpPr/>
          <p:nvPr/>
        </p:nvSpPr>
        <p:spPr>
          <a:xfrm>
            <a:off x="9473183" y="2807208"/>
            <a:ext cx="475488" cy="475488"/>
          </a:xfrm>
          <a:prstGeom prst="ellipse">
            <a:avLst/>
          </a:prstGeom>
          <a:solidFill>
            <a:srgbClr val="69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73183" y="2770632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4892040"/>
            <a:ext cx="10771632" cy="22860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92A43"/>
                </a:solidFill>
                <a:latin typeface="Aptos"/>
              </a:rPr>
              <a:t>Today: building a multi-agent AI procurement 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98932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 dirty="0">
                <a:solidFill>
                  <a:srgbClr val="606974"/>
                </a:solidFill>
                <a:latin typeface="Aptos"/>
              </a:rPr>
              <a:t>#</a:t>
            </a:r>
            <a:r>
              <a:rPr sz="1100" b="0" dirty="0" err="1">
                <a:solidFill>
                  <a:srgbClr val="606974"/>
                </a:solidFill>
                <a:latin typeface="Aptos"/>
              </a:rPr>
              <a:t>FollowAlongWithRachelIrabor</a:t>
            </a:r>
            <a:endParaRPr sz="1100" b="0" dirty="0">
              <a:solidFill>
                <a:srgbClr val="60697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686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 dirty="0">
                <a:solidFill>
                  <a:srgbClr val="192A43"/>
                </a:solidFill>
                <a:latin typeface="Aptos"/>
              </a:rPr>
              <a:t>Why a multi-agent approach?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2458A6"/>
                </a:solidFill>
                <a:latin typeface="Aptos"/>
              </a:rPr>
              <a:t>The procurement scenario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72768"/>
            <a:ext cx="107442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9966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 dirty="0">
                <a:solidFill>
                  <a:srgbClr val="23272D"/>
                </a:solidFill>
                <a:latin typeface="Aptos"/>
              </a:rPr>
              <a:t>We’re building an AI solution for procurement that brings together two distinct areas: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75688"/>
            <a:ext cx="9966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 dirty="0">
                <a:solidFill>
                  <a:srgbClr val="192A43"/>
                </a:solidFill>
                <a:latin typeface="Aptos"/>
              </a:rPr>
              <a:t>supplier risk  +  contract lifecycle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880360"/>
            <a:ext cx="44348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2880360"/>
            <a:ext cx="73152" cy="1828800"/>
          </a:xfrm>
          <a:prstGeom prst="rect">
            <a:avLst/>
          </a:prstGeom>
          <a:solidFill>
            <a:srgbClr val="DA6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3081528"/>
            <a:ext cx="397763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92A43"/>
                </a:solidFill>
                <a:latin typeface="Aptos"/>
              </a:rPr>
              <a:t>Supplier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456432"/>
            <a:ext cx="3840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>
                <a:solidFill>
                  <a:srgbClr val="606974"/>
                </a:solidFill>
                <a:latin typeface="Aptos"/>
              </a:rPr>
              <a:t>Supplier health, risk indicators,
performance and issues requiring attention.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880360"/>
            <a:ext cx="44348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40880" y="2880360"/>
            <a:ext cx="73152" cy="1828800"/>
          </a:xfrm>
          <a:prstGeom prst="rect">
            <a:avLst/>
          </a:prstGeom>
          <a:solidFill>
            <a:srgbClr val="69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6912" y="3081528"/>
            <a:ext cx="397763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dirty="0">
                <a:solidFill>
                  <a:srgbClr val="192A43"/>
                </a:solidFill>
                <a:latin typeface="Aptos"/>
              </a:rPr>
              <a:t>Contract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456432"/>
            <a:ext cx="3840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>
                <a:solidFill>
                  <a:srgbClr val="606974"/>
                </a:solidFill>
                <a:latin typeface="Aptos"/>
              </a:rPr>
              <a:t>Contract status, key dates,
renewals and actions requiring attention.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8032" y="3182112"/>
            <a:ext cx="2514600" cy="1234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4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3364992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 dirty="0">
                <a:solidFill>
                  <a:srgbClr val="192A43"/>
                </a:solidFill>
                <a:latin typeface="Aptos"/>
              </a:rPr>
              <a:t>Procurement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730752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 dirty="0">
                <a:solidFill>
                  <a:srgbClr val="192A43"/>
                </a:solidFill>
                <a:latin typeface="Aptos"/>
              </a:rPr>
              <a:t>Orchestrator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28032" y="3794760"/>
            <a:ext cx="320040" cy="0"/>
          </a:xfrm>
          <a:prstGeom prst="line">
            <a:avLst/>
          </a:prstGeom>
          <a:ln w="20320">
            <a:solidFill>
              <a:srgbClr val="60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040880" y="3794760"/>
            <a:ext cx="301751" cy="0"/>
          </a:xfrm>
          <a:prstGeom prst="line">
            <a:avLst/>
          </a:prstGeom>
          <a:ln w="20320">
            <a:solidFill>
              <a:srgbClr val="60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525780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92A43"/>
                </a:solidFill>
                <a:latin typeface="Aptos"/>
              </a:rPr>
              <a:t>Why not one general-purpose agent?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643741"/>
            <a:ext cx="11371511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dirty="0">
                <a:solidFill>
                  <a:srgbClr val="606974"/>
                </a:solidFill>
                <a:latin typeface="Aptos"/>
              </a:rPr>
              <a:t>These are different capabilities with different responsibilities, data and actions. The orchestrator can route each request to the </a:t>
            </a:r>
            <a:r>
              <a:rPr sz="1500" b="0" dirty="0" err="1">
                <a:solidFill>
                  <a:srgbClr val="606974"/>
                </a:solidFill>
                <a:latin typeface="Aptos"/>
              </a:rPr>
              <a:t>specialis</a:t>
            </a:r>
            <a:r>
              <a:rPr lang="en-GB" sz="1500" dirty="0">
                <a:solidFill>
                  <a:srgbClr val="606974"/>
                </a:solidFill>
                <a:latin typeface="Aptos"/>
              </a:rPr>
              <a:t>t</a:t>
            </a:r>
          </a:p>
          <a:p>
            <a:pPr algn="l"/>
            <a:r>
              <a:rPr sz="1500" b="0" dirty="0">
                <a:solidFill>
                  <a:srgbClr val="606974"/>
                </a:solidFill>
                <a:latin typeface="Aptos"/>
              </a:rPr>
              <a:t> that understands that domain.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943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 dirty="0">
                <a:solidFill>
                  <a:srgbClr val="192A43"/>
                </a:solidFill>
                <a:latin typeface="Aptos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4114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0" dirty="0">
                <a:solidFill>
                  <a:srgbClr val="606974"/>
                </a:solidFill>
                <a:latin typeface="Aptos"/>
              </a:rPr>
              <a:t>The architecture we’ll build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5167" y="1234440"/>
            <a:ext cx="1088136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32"/>
                </a:solidFill>
              </a:defRPr>
            </a:pPr>
            <a:r>
              <a:rPr dirty="0"/>
              <a:t>Security &amp; Governance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81328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68A0"/>
                </a:solidFill>
              </a:defRPr>
            </a:pPr>
            <a:r>
              <a:t>LEAST PRIVILEGE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075688"/>
            <a:ext cx="298742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E4E"/>
                </a:solidFill>
              </a:defRPr>
            </a:pPr>
            <a:r>
              <a:rPr dirty="0"/>
              <a:t>Each specialist agent only handles the</a:t>
            </a:r>
            <a:endParaRPr lang="en-US" dirty="0"/>
          </a:p>
          <a:p>
            <a:pPr>
              <a:defRPr sz="1300">
                <a:solidFill>
                  <a:srgbClr val="323E4E"/>
                </a:solidFill>
              </a:defRPr>
            </a:pPr>
            <a:r>
              <a:rPr dirty="0"/>
              <a:t> procurement capability it is designed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788920"/>
            <a:ext cx="29352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65262"/>
                </a:solidFill>
              </a:defRPr>
            </a:pPr>
            <a:r>
              <a:t>• Supply Risk → risk &amp; performance</a:t>
            </a:r>
          </a:p>
          <a:p>
            <a:pPr>
              <a:spcAft>
                <a:spcPts val="500"/>
              </a:spcAft>
              <a:defRPr sz="1150">
                <a:solidFill>
                  <a:srgbClr val="465262"/>
                </a:solidFill>
              </a:defRPr>
            </a:pPr>
            <a:r>
              <a:t>• Contract Lifecycle → contracts &amp; obligations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1481328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34255" y="1664208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68A0"/>
                </a:solidFill>
              </a:defRPr>
            </a:pPr>
            <a:r>
              <a:t>READ-ONLY DATA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255" y="2075688"/>
            <a:ext cx="2632324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E4E"/>
                </a:solidFill>
              </a:defRPr>
            </a:pPr>
            <a:r>
              <a:rPr dirty="0"/>
              <a:t>The Dataverse </a:t>
            </a:r>
            <a:r>
              <a:rPr dirty="0" err="1"/>
              <a:t>MCP</a:t>
            </a:r>
            <a:r>
              <a:rPr dirty="0"/>
              <a:t> Server exposes</a:t>
            </a:r>
            <a:endParaRPr lang="en-US" dirty="0"/>
          </a:p>
          <a:p>
            <a:pPr>
              <a:defRPr sz="1300">
                <a:solidFill>
                  <a:srgbClr val="323E4E"/>
                </a:solidFill>
              </a:defRPr>
            </a:pPr>
            <a:r>
              <a:rPr dirty="0"/>
              <a:t> only the tools required to read and </a:t>
            </a:r>
            <a:endParaRPr lang="en-US" dirty="0"/>
          </a:p>
          <a:p>
            <a:pPr>
              <a:defRPr sz="1300">
                <a:solidFill>
                  <a:srgbClr val="323E4E"/>
                </a:solidFill>
              </a:defRPr>
            </a:pPr>
            <a:r>
              <a:rPr dirty="0"/>
              <a:t>analyze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4255" y="2788920"/>
            <a:ext cx="29352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65262"/>
                </a:solidFill>
              </a:defRPr>
            </a:pPr>
            <a:r>
              <a:t>• describe</a:t>
            </a:r>
          </a:p>
          <a:p>
            <a:pPr>
              <a:spcAft>
                <a:spcPts val="500"/>
              </a:spcAft>
              <a:defRPr sz="1150">
                <a:solidFill>
                  <a:srgbClr val="465262"/>
                </a:solidFill>
              </a:defRPr>
            </a:pPr>
            <a:r>
              <a:t>• search</a:t>
            </a:r>
          </a:p>
          <a:p>
            <a:pPr>
              <a:spcAft>
                <a:spcPts val="500"/>
              </a:spcAft>
              <a:defRPr sz="1150">
                <a:solidFill>
                  <a:srgbClr val="465262"/>
                </a:solidFill>
              </a:defRPr>
            </a:pPr>
            <a:r>
              <a:t>• read_query</a:t>
            </a:r>
          </a:p>
          <a:p>
            <a:pPr>
              <a:spcAft>
                <a:spcPts val="500"/>
              </a:spcAft>
              <a:defRPr sz="1150">
                <a:solidFill>
                  <a:srgbClr val="465262"/>
                </a:solidFill>
              </a:defRPr>
            </a:pPr>
            <a:r>
              <a:t>• No create / update / delete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71816" y="1481328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72984" y="1664208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68A0"/>
                </a:solidFill>
              </a:defRPr>
            </a:pPr>
            <a:r>
              <a:t>AGENT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2984" y="2075688"/>
            <a:ext cx="296754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E4E"/>
                </a:solidFill>
              </a:defRPr>
            </a:pPr>
            <a:r>
              <a:rPr dirty="0"/>
              <a:t>The Orchestrator coordinates; specialist </a:t>
            </a:r>
            <a:endParaRPr lang="en-US" dirty="0"/>
          </a:p>
          <a:p>
            <a:pPr>
              <a:defRPr sz="1300">
                <a:solidFill>
                  <a:srgbClr val="323E4E"/>
                </a:solidFill>
              </a:defRPr>
            </a:pPr>
            <a:r>
              <a:rPr dirty="0"/>
              <a:t>agents analyze within their defined skills.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2984" y="2788920"/>
            <a:ext cx="29352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65262"/>
                </a:solidFill>
              </a:defRPr>
            </a:pPr>
            <a:r>
              <a:rPr dirty="0"/>
              <a:t>• Orchestrator → routes &amp; coordinates</a:t>
            </a:r>
          </a:p>
          <a:p>
            <a:pPr>
              <a:spcAft>
                <a:spcPts val="500"/>
              </a:spcAft>
              <a:defRPr sz="1150">
                <a:solidFill>
                  <a:srgbClr val="465262"/>
                </a:solidFill>
              </a:defRPr>
            </a:pPr>
            <a:r>
              <a:rPr dirty="0"/>
              <a:t>• Specialists → analyze their domain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069080"/>
            <a:ext cx="11000232" cy="1298448"/>
          </a:xfrm>
          <a:prstGeom prst="roundRect">
            <a:avLst/>
          </a:prstGeom>
          <a:solidFill>
            <a:srgbClr val="EDF4FA"/>
          </a:solidFill>
          <a:ln>
            <a:solidFill>
              <a:srgbClr val="CD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27024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68A0"/>
                </a:solidFill>
              </a:defRPr>
            </a:pPr>
            <a:r>
              <a:t>EVIDENCE-BASED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45152"/>
            <a:ext cx="10378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3746"/>
                </a:solidFill>
              </a:defRPr>
            </a:pPr>
            <a:r>
              <a:rPr dirty="0"/>
              <a:t>Agents use retrieved Dataverse data, distinguish stored facts from derived findings, and do not invent procurement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596128"/>
            <a:ext cx="11000232" cy="749808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99967" y="5742432"/>
            <a:ext cx="696158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dirty="0"/>
              <a:t>“The agents can reason over procurement data but they cannot change it.”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259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rachel irabor</cp:lastModifiedBy>
  <cp:revision>5</cp:revision>
  <dcterms:created xsi:type="dcterms:W3CDTF">2013-01-27T09:14:16Z</dcterms:created>
  <dcterms:modified xsi:type="dcterms:W3CDTF">2026-09-26T02:12:15Z</dcterms:modified>
  <cp:category/>
</cp:coreProperties>
</file>